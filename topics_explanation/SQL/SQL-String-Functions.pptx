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Montserrat" panose="000005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42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559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690938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NORMALIZATION USING</a:t>
            </a:r>
            <a:b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</a:b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SQL String Functions </a:t>
            </a:r>
            <a:endParaRPr lang="en-US" sz="5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1768"/>
            <a:ext cx="8316635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Space &amp; Case Normalization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93790" y="2113121"/>
            <a:ext cx="3090505" cy="2833688"/>
          </a:xfrm>
          <a:prstGeom prst="roundRect">
            <a:avLst>
              <a:gd name="adj" fmla="val 336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3464" y="2362795"/>
            <a:ext cx="2591157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TRIM()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43464" y="2922746"/>
            <a:ext cx="2591157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Removes spaces from the beginning and end of a string.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043464" y="4062293"/>
            <a:ext cx="2591157" cy="634841"/>
          </a:xfrm>
          <a:prstGeom prst="roundRect">
            <a:avLst>
              <a:gd name="adj" fmla="val 15007"/>
            </a:avLst>
          </a:prstGeom>
          <a:solidFill>
            <a:srgbClr val="F2F2E7"/>
          </a:solidFill>
          <a:ln/>
        </p:spPr>
      </p:sp>
      <p:sp>
        <p:nvSpPr>
          <p:cNvPr id="7" name="Shape 5"/>
          <p:cNvSpPr/>
          <p:nvPr/>
        </p:nvSpPr>
        <p:spPr>
          <a:xfrm>
            <a:off x="1032153" y="4062293"/>
            <a:ext cx="2613779" cy="634841"/>
          </a:xfrm>
          <a:prstGeom prst="roundRect">
            <a:avLst>
              <a:gd name="adj" fmla="val 5359"/>
            </a:avLst>
          </a:prstGeom>
          <a:solidFill>
            <a:srgbClr val="F2F2E7"/>
          </a:solidFill>
          <a:ln/>
        </p:spPr>
      </p:sp>
      <p:sp>
        <p:nvSpPr>
          <p:cNvPr id="8" name="Text 6"/>
          <p:cNvSpPr/>
          <p:nvPr/>
        </p:nvSpPr>
        <p:spPr>
          <a:xfrm>
            <a:off x="1258967" y="4232315"/>
            <a:ext cx="216015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TRIM(string)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4111109" y="2113121"/>
            <a:ext cx="3090624" cy="2833688"/>
          </a:xfrm>
          <a:prstGeom prst="roundRect">
            <a:avLst>
              <a:gd name="adj" fmla="val 336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0783" y="2362795"/>
            <a:ext cx="259127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LTRIM()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360783" y="2922746"/>
            <a:ext cx="259127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Removes spaces from the left side of a string.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360783" y="3767495"/>
            <a:ext cx="2591276" cy="634841"/>
          </a:xfrm>
          <a:prstGeom prst="roundRect">
            <a:avLst>
              <a:gd name="adj" fmla="val 15007"/>
            </a:avLst>
          </a:prstGeom>
          <a:solidFill>
            <a:srgbClr val="F2F2E7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9472" y="3767495"/>
            <a:ext cx="2613898" cy="634841"/>
          </a:xfrm>
          <a:prstGeom prst="roundRect">
            <a:avLst>
              <a:gd name="adj" fmla="val 5359"/>
            </a:avLst>
          </a:prstGeom>
          <a:solidFill>
            <a:srgbClr val="F2F2E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6286" y="3937516"/>
            <a:ext cx="216027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LTRIM(string)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2113121"/>
            <a:ext cx="3090624" cy="2833688"/>
          </a:xfrm>
          <a:prstGeom prst="roundRect">
            <a:avLst>
              <a:gd name="adj" fmla="val 336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78222" y="2362795"/>
            <a:ext cx="259127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RTRIM()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678222" y="2922746"/>
            <a:ext cx="2591276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Removes spaces from the right side of a string.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678222" y="4062293"/>
            <a:ext cx="2591276" cy="634841"/>
          </a:xfrm>
          <a:prstGeom prst="roundRect">
            <a:avLst>
              <a:gd name="adj" fmla="val 15007"/>
            </a:avLst>
          </a:prstGeom>
          <a:solidFill>
            <a:srgbClr val="F2F2E7"/>
          </a:solidFill>
          <a:ln/>
        </p:spPr>
      </p:sp>
      <p:sp>
        <p:nvSpPr>
          <p:cNvPr id="19" name="Shape 17"/>
          <p:cNvSpPr/>
          <p:nvPr/>
        </p:nvSpPr>
        <p:spPr>
          <a:xfrm>
            <a:off x="7666911" y="4062293"/>
            <a:ext cx="2613898" cy="634841"/>
          </a:xfrm>
          <a:prstGeom prst="roundRect">
            <a:avLst>
              <a:gd name="adj" fmla="val 5359"/>
            </a:avLst>
          </a:prstGeom>
          <a:solidFill>
            <a:srgbClr val="F2F2E7"/>
          </a:solidFill>
          <a:ln/>
        </p:spPr>
      </p:sp>
      <p:sp>
        <p:nvSpPr>
          <p:cNvPr id="20" name="Text 18"/>
          <p:cNvSpPr/>
          <p:nvPr/>
        </p:nvSpPr>
        <p:spPr>
          <a:xfrm>
            <a:off x="7893725" y="4232315"/>
            <a:ext cx="216027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RTRIM(string)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10745986" y="2113121"/>
            <a:ext cx="3090624" cy="2833688"/>
          </a:xfrm>
          <a:prstGeom prst="roundRect">
            <a:avLst>
              <a:gd name="adj" fmla="val 336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95660" y="2362795"/>
            <a:ext cx="259127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LOWER()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0995660" y="2922746"/>
            <a:ext cx="259127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Converts all characters to lowercase.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10995660" y="3767495"/>
            <a:ext cx="2591276" cy="634841"/>
          </a:xfrm>
          <a:prstGeom prst="roundRect">
            <a:avLst>
              <a:gd name="adj" fmla="val 15007"/>
            </a:avLst>
          </a:prstGeom>
          <a:solidFill>
            <a:srgbClr val="F2F2E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84349" y="3767495"/>
            <a:ext cx="2613898" cy="634841"/>
          </a:xfrm>
          <a:prstGeom prst="roundRect">
            <a:avLst>
              <a:gd name="adj" fmla="val 5359"/>
            </a:avLst>
          </a:prstGeom>
          <a:solidFill>
            <a:srgbClr val="F2F2E7"/>
          </a:solidFill>
          <a:ln/>
        </p:spPr>
      </p:sp>
      <p:sp>
        <p:nvSpPr>
          <p:cNvPr id="26" name="Text 24"/>
          <p:cNvSpPr/>
          <p:nvPr/>
        </p:nvSpPr>
        <p:spPr>
          <a:xfrm>
            <a:off x="11211163" y="3937516"/>
            <a:ext cx="216027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LOWER(string)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93790" y="5173623"/>
            <a:ext cx="13042821" cy="2244090"/>
          </a:xfrm>
          <a:prstGeom prst="roundRect">
            <a:avLst>
              <a:gd name="adj" fmla="val 4245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3464" y="5423297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UPPER()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043464" y="5983248"/>
            <a:ext cx="1254347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Converts all characters to uppercase.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1043464" y="6533198"/>
            <a:ext cx="12543473" cy="634841"/>
          </a:xfrm>
          <a:prstGeom prst="roundRect">
            <a:avLst>
              <a:gd name="adj" fmla="val 15007"/>
            </a:avLst>
          </a:prstGeom>
          <a:solidFill>
            <a:srgbClr val="F2F2E7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2153" y="6533198"/>
            <a:ext cx="12566094" cy="634841"/>
          </a:xfrm>
          <a:prstGeom prst="roundRect">
            <a:avLst>
              <a:gd name="adj" fmla="val 5359"/>
            </a:avLst>
          </a:prstGeom>
          <a:solidFill>
            <a:srgbClr val="F2F2E7"/>
          </a:solidFill>
          <a:ln/>
        </p:spPr>
      </p:sp>
      <p:sp>
        <p:nvSpPr>
          <p:cNvPr id="32" name="Text 30"/>
          <p:cNvSpPr/>
          <p:nvPr/>
        </p:nvSpPr>
        <p:spPr>
          <a:xfrm>
            <a:off x="1258967" y="6703219"/>
            <a:ext cx="1211246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UPPER(string)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0550"/>
            <a:ext cx="7496413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Extracting Parts of Strings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93790" y="2841903"/>
            <a:ext cx="3090505" cy="3847148"/>
          </a:xfrm>
          <a:prstGeom prst="roundRect">
            <a:avLst>
              <a:gd name="adj" fmla="val 3083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3464" y="3091577"/>
            <a:ext cx="2591157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LEFT() / RIGHT()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43464" y="3651528"/>
            <a:ext cx="2591157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Extracts characters from either end of a string.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043464" y="4791075"/>
            <a:ext cx="2591157" cy="1224439"/>
          </a:xfrm>
          <a:prstGeom prst="roundRect">
            <a:avLst>
              <a:gd name="adj" fmla="val 7781"/>
            </a:avLst>
          </a:prstGeom>
          <a:solidFill>
            <a:srgbClr val="F2F2E7"/>
          </a:solidFill>
          <a:ln/>
        </p:spPr>
      </p:sp>
      <p:sp>
        <p:nvSpPr>
          <p:cNvPr id="7" name="Shape 5"/>
          <p:cNvSpPr/>
          <p:nvPr/>
        </p:nvSpPr>
        <p:spPr>
          <a:xfrm>
            <a:off x="1032153" y="4791075"/>
            <a:ext cx="2613779" cy="1224439"/>
          </a:xfrm>
          <a:prstGeom prst="roundRect">
            <a:avLst>
              <a:gd name="adj" fmla="val 2779"/>
            </a:avLst>
          </a:prstGeom>
          <a:solidFill>
            <a:srgbClr val="F2F2E7"/>
          </a:solidFill>
          <a:ln/>
        </p:spPr>
      </p:sp>
      <p:sp>
        <p:nvSpPr>
          <p:cNvPr id="8" name="Text 6"/>
          <p:cNvSpPr/>
          <p:nvPr/>
        </p:nvSpPr>
        <p:spPr>
          <a:xfrm>
            <a:off x="1258967" y="4961096"/>
            <a:ext cx="2160151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LEFT(string, length)</a:t>
            </a:r>
            <a:endParaRPr lang="en-US" sz="1750" dirty="0"/>
          </a:p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RIGHT(string, length)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4111109" y="2841903"/>
            <a:ext cx="3090624" cy="3847148"/>
          </a:xfrm>
          <a:prstGeom prst="roundRect">
            <a:avLst>
              <a:gd name="adj" fmla="val 308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0783" y="3091577"/>
            <a:ext cx="259127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SUBSTRING()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360783" y="3651528"/>
            <a:ext cx="2591276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Extracts part of a string starting from a position.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360783" y="4791075"/>
            <a:ext cx="2591276" cy="929640"/>
          </a:xfrm>
          <a:prstGeom prst="roundRect">
            <a:avLst>
              <a:gd name="adj" fmla="val 10248"/>
            </a:avLst>
          </a:prstGeom>
          <a:solidFill>
            <a:srgbClr val="F2F2E7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9472" y="4791075"/>
            <a:ext cx="2613898" cy="929640"/>
          </a:xfrm>
          <a:prstGeom prst="roundRect">
            <a:avLst>
              <a:gd name="adj" fmla="val 3660"/>
            </a:avLst>
          </a:prstGeom>
          <a:solidFill>
            <a:srgbClr val="F2F2E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6286" y="4961096"/>
            <a:ext cx="216027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SUBSTRING(string, start_position)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2841903"/>
            <a:ext cx="3090624" cy="3847148"/>
          </a:xfrm>
          <a:prstGeom prst="roundRect">
            <a:avLst>
              <a:gd name="adj" fmla="val 308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78222" y="3091577"/>
            <a:ext cx="2591276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SUBSTRING_INDEX()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678222" y="4075390"/>
            <a:ext cx="2591276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Splits a string using a delimiter and returns a portion.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678222" y="5214938"/>
            <a:ext cx="2591276" cy="1224439"/>
          </a:xfrm>
          <a:prstGeom prst="roundRect">
            <a:avLst>
              <a:gd name="adj" fmla="val 7781"/>
            </a:avLst>
          </a:prstGeom>
          <a:solidFill>
            <a:srgbClr val="F2F2E7"/>
          </a:solidFill>
          <a:ln/>
        </p:spPr>
      </p:sp>
      <p:sp>
        <p:nvSpPr>
          <p:cNvPr id="19" name="Shape 17"/>
          <p:cNvSpPr/>
          <p:nvPr/>
        </p:nvSpPr>
        <p:spPr>
          <a:xfrm>
            <a:off x="7666911" y="5214938"/>
            <a:ext cx="2613898" cy="1224439"/>
          </a:xfrm>
          <a:prstGeom prst="roundRect">
            <a:avLst>
              <a:gd name="adj" fmla="val 2779"/>
            </a:avLst>
          </a:prstGeom>
          <a:solidFill>
            <a:srgbClr val="F2F2E7"/>
          </a:solidFill>
          <a:ln/>
        </p:spPr>
      </p:sp>
      <p:sp>
        <p:nvSpPr>
          <p:cNvPr id="20" name="Text 18"/>
          <p:cNvSpPr/>
          <p:nvPr/>
        </p:nvSpPr>
        <p:spPr>
          <a:xfrm>
            <a:off x="7893725" y="5384959"/>
            <a:ext cx="216027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SUBSTRING_INDEX(string, delimiter, count)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10745986" y="2841903"/>
            <a:ext cx="3090624" cy="3847148"/>
          </a:xfrm>
          <a:prstGeom prst="roundRect">
            <a:avLst>
              <a:gd name="adj" fmla="val 308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95660" y="3091577"/>
            <a:ext cx="259127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REVERSE()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0995660" y="3651528"/>
            <a:ext cx="259127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Reverses the characters in a string.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10995660" y="4496276"/>
            <a:ext cx="2591276" cy="634841"/>
          </a:xfrm>
          <a:prstGeom prst="roundRect">
            <a:avLst>
              <a:gd name="adj" fmla="val 15007"/>
            </a:avLst>
          </a:prstGeom>
          <a:solidFill>
            <a:srgbClr val="F2F2E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84349" y="4496276"/>
            <a:ext cx="2613898" cy="634841"/>
          </a:xfrm>
          <a:prstGeom prst="roundRect">
            <a:avLst>
              <a:gd name="adj" fmla="val 5359"/>
            </a:avLst>
          </a:prstGeom>
          <a:solidFill>
            <a:srgbClr val="F2F2E7"/>
          </a:solidFill>
          <a:ln/>
        </p:spPr>
      </p:sp>
      <p:sp>
        <p:nvSpPr>
          <p:cNvPr id="26" name="Text 24"/>
          <p:cNvSpPr/>
          <p:nvPr/>
        </p:nvSpPr>
        <p:spPr>
          <a:xfrm>
            <a:off x="11211163" y="4666297"/>
            <a:ext cx="216027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REVERSE(string)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9129"/>
            <a:ext cx="8283535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Finding &amp; Measuring Strings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93790" y="1950482"/>
            <a:ext cx="3090505" cy="3143726"/>
          </a:xfrm>
          <a:prstGeom prst="roundRect">
            <a:avLst>
              <a:gd name="adj" fmla="val 3083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207776"/>
            <a:ext cx="2575917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INSTR()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51084" y="2767727"/>
            <a:ext cx="2575917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Returns the position of a substring.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051084" y="3612475"/>
            <a:ext cx="2575917" cy="929640"/>
          </a:xfrm>
          <a:prstGeom prst="roundRect">
            <a:avLst>
              <a:gd name="adj" fmla="val 10248"/>
            </a:avLst>
          </a:prstGeom>
          <a:solidFill>
            <a:srgbClr val="F2F2E7"/>
          </a:solidFill>
          <a:ln/>
        </p:spPr>
      </p:sp>
      <p:sp>
        <p:nvSpPr>
          <p:cNvPr id="7" name="Shape 5"/>
          <p:cNvSpPr/>
          <p:nvPr/>
        </p:nvSpPr>
        <p:spPr>
          <a:xfrm>
            <a:off x="1039773" y="3612475"/>
            <a:ext cx="2598539" cy="929640"/>
          </a:xfrm>
          <a:prstGeom prst="roundRect">
            <a:avLst>
              <a:gd name="adj" fmla="val 3660"/>
            </a:avLst>
          </a:prstGeom>
          <a:solidFill>
            <a:srgbClr val="F2F2E7"/>
          </a:solidFill>
          <a:ln/>
        </p:spPr>
      </p:sp>
      <p:sp>
        <p:nvSpPr>
          <p:cNvPr id="8" name="Text 6"/>
          <p:cNvSpPr/>
          <p:nvPr/>
        </p:nvSpPr>
        <p:spPr>
          <a:xfrm>
            <a:off x="1266587" y="3782497"/>
            <a:ext cx="214491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INSTR(string, substring)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4111109" y="1950482"/>
            <a:ext cx="3090624" cy="3143726"/>
          </a:xfrm>
          <a:prstGeom prst="roundRect">
            <a:avLst>
              <a:gd name="adj" fmla="val 3082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8403" y="2207776"/>
            <a:ext cx="257603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LOCATE()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368403" y="2767727"/>
            <a:ext cx="257603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Finds the position of a substring in a string.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368403" y="3612475"/>
            <a:ext cx="2576036" cy="929640"/>
          </a:xfrm>
          <a:prstGeom prst="roundRect">
            <a:avLst>
              <a:gd name="adj" fmla="val 10248"/>
            </a:avLst>
          </a:prstGeom>
          <a:solidFill>
            <a:srgbClr val="F2F2E7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7092" y="3612475"/>
            <a:ext cx="2598658" cy="929640"/>
          </a:xfrm>
          <a:prstGeom prst="roundRect">
            <a:avLst>
              <a:gd name="adj" fmla="val 3660"/>
            </a:avLst>
          </a:prstGeom>
          <a:solidFill>
            <a:srgbClr val="F2F2E7"/>
          </a:solidFill>
          <a:ln/>
        </p:spPr>
      </p:sp>
      <p:sp>
        <p:nvSpPr>
          <p:cNvPr id="14" name="Text 12"/>
          <p:cNvSpPr/>
          <p:nvPr/>
        </p:nvSpPr>
        <p:spPr>
          <a:xfrm>
            <a:off x="4583906" y="3782497"/>
            <a:ext cx="214503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LOCATE(substring, string)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1950482"/>
            <a:ext cx="3090624" cy="3143726"/>
          </a:xfrm>
          <a:prstGeom prst="roundRect">
            <a:avLst>
              <a:gd name="adj" fmla="val 3082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5842" y="2207776"/>
            <a:ext cx="257603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CHAR_LENGTH()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685842" y="2767727"/>
            <a:ext cx="2576036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Returns the number of characters in a string.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685842" y="3907274"/>
            <a:ext cx="2576036" cy="929640"/>
          </a:xfrm>
          <a:prstGeom prst="roundRect">
            <a:avLst>
              <a:gd name="adj" fmla="val 10248"/>
            </a:avLst>
          </a:prstGeom>
          <a:solidFill>
            <a:srgbClr val="F2F2E7"/>
          </a:solidFill>
          <a:ln/>
        </p:spPr>
      </p:sp>
      <p:sp>
        <p:nvSpPr>
          <p:cNvPr id="19" name="Shape 17"/>
          <p:cNvSpPr/>
          <p:nvPr/>
        </p:nvSpPr>
        <p:spPr>
          <a:xfrm>
            <a:off x="7674531" y="3907274"/>
            <a:ext cx="2598658" cy="929640"/>
          </a:xfrm>
          <a:prstGeom prst="roundRect">
            <a:avLst>
              <a:gd name="adj" fmla="val 3660"/>
            </a:avLst>
          </a:prstGeom>
          <a:solidFill>
            <a:srgbClr val="F2F2E7"/>
          </a:solidFill>
          <a:ln/>
        </p:spPr>
      </p:sp>
      <p:sp>
        <p:nvSpPr>
          <p:cNvPr id="20" name="Text 18"/>
          <p:cNvSpPr/>
          <p:nvPr/>
        </p:nvSpPr>
        <p:spPr>
          <a:xfrm>
            <a:off x="7901345" y="4077295"/>
            <a:ext cx="214503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CHAR_LENGTH(string)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10745986" y="1950482"/>
            <a:ext cx="3090624" cy="3143726"/>
          </a:xfrm>
          <a:prstGeom prst="roundRect">
            <a:avLst>
              <a:gd name="adj" fmla="val 3082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03280" y="2207776"/>
            <a:ext cx="257603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LENGTH()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1003280" y="2767727"/>
            <a:ext cx="257603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Returns the length of a string in bytes.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11003280" y="3612475"/>
            <a:ext cx="2576036" cy="634841"/>
          </a:xfrm>
          <a:prstGeom prst="roundRect">
            <a:avLst>
              <a:gd name="adj" fmla="val 15007"/>
            </a:avLst>
          </a:prstGeom>
          <a:solidFill>
            <a:srgbClr val="F2F2E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91969" y="3612475"/>
            <a:ext cx="2598658" cy="634841"/>
          </a:xfrm>
          <a:prstGeom prst="roundRect">
            <a:avLst>
              <a:gd name="adj" fmla="val 5359"/>
            </a:avLst>
          </a:prstGeom>
          <a:solidFill>
            <a:srgbClr val="F2F2E7"/>
          </a:solidFill>
          <a:ln/>
        </p:spPr>
      </p:sp>
      <p:sp>
        <p:nvSpPr>
          <p:cNvPr id="26" name="Text 24"/>
          <p:cNvSpPr/>
          <p:nvPr/>
        </p:nvSpPr>
        <p:spPr>
          <a:xfrm>
            <a:off x="11218783" y="3782497"/>
            <a:ext cx="214503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LENGTH(string)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93790" y="5321022"/>
            <a:ext cx="13042821" cy="2259330"/>
          </a:xfrm>
          <a:prstGeom prst="roundRect">
            <a:avLst>
              <a:gd name="adj" fmla="val 4217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084" y="5578316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ASCII()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051084" y="6138267"/>
            <a:ext cx="1252823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Returns the ASCII value of the first character.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1051084" y="6688217"/>
            <a:ext cx="12528233" cy="634841"/>
          </a:xfrm>
          <a:prstGeom prst="roundRect">
            <a:avLst>
              <a:gd name="adj" fmla="val 15007"/>
            </a:avLst>
          </a:prstGeom>
          <a:solidFill>
            <a:srgbClr val="F2F2E7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9773" y="6688217"/>
            <a:ext cx="12550854" cy="634841"/>
          </a:xfrm>
          <a:prstGeom prst="roundRect">
            <a:avLst>
              <a:gd name="adj" fmla="val 5359"/>
            </a:avLst>
          </a:prstGeom>
          <a:solidFill>
            <a:srgbClr val="F2F2E7"/>
          </a:solidFill>
          <a:ln/>
        </p:spPr>
      </p:sp>
      <p:sp>
        <p:nvSpPr>
          <p:cNvPr id="32" name="Text 30"/>
          <p:cNvSpPr/>
          <p:nvPr/>
        </p:nvSpPr>
        <p:spPr>
          <a:xfrm>
            <a:off x="1266587" y="6858238"/>
            <a:ext cx="1209722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ASCII(character)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1327"/>
            <a:ext cx="8300680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Cleaning &amp; Formatting Data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93790" y="2392680"/>
            <a:ext cx="6407944" cy="2259330"/>
          </a:xfrm>
          <a:prstGeom prst="roundRect">
            <a:avLst>
              <a:gd name="adj" fmla="val 4217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64997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REPLACE()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51084" y="3209925"/>
            <a:ext cx="589335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Replaces a specific character or text with another.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051084" y="3759875"/>
            <a:ext cx="5893356" cy="634841"/>
          </a:xfrm>
          <a:prstGeom prst="roundRect">
            <a:avLst>
              <a:gd name="adj" fmla="val 15007"/>
            </a:avLst>
          </a:prstGeom>
          <a:solidFill>
            <a:srgbClr val="F2F2E7"/>
          </a:solidFill>
          <a:ln/>
        </p:spPr>
      </p:sp>
      <p:sp>
        <p:nvSpPr>
          <p:cNvPr id="7" name="Shape 5"/>
          <p:cNvSpPr/>
          <p:nvPr/>
        </p:nvSpPr>
        <p:spPr>
          <a:xfrm>
            <a:off x="1039773" y="3759875"/>
            <a:ext cx="5915978" cy="634841"/>
          </a:xfrm>
          <a:prstGeom prst="roundRect">
            <a:avLst>
              <a:gd name="adj" fmla="val 5359"/>
            </a:avLst>
          </a:prstGeom>
          <a:solidFill>
            <a:srgbClr val="F2F2E7"/>
          </a:solidFill>
          <a:ln/>
        </p:spPr>
      </p:sp>
      <p:sp>
        <p:nvSpPr>
          <p:cNvPr id="8" name="Text 6"/>
          <p:cNvSpPr/>
          <p:nvPr/>
        </p:nvSpPr>
        <p:spPr>
          <a:xfrm>
            <a:off x="1266587" y="3929896"/>
            <a:ext cx="546234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REPLACE(string, old_value, new_value)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392680"/>
            <a:ext cx="6408063" cy="2259330"/>
          </a:xfrm>
          <a:prstGeom prst="roundRect">
            <a:avLst>
              <a:gd name="adj" fmla="val 4217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5842" y="264997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REGEXP_REPLACE()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685842" y="3209925"/>
            <a:ext cx="589347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Replaces text using regular expression patterns.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685842" y="3759875"/>
            <a:ext cx="5893475" cy="634841"/>
          </a:xfrm>
          <a:prstGeom prst="roundRect">
            <a:avLst>
              <a:gd name="adj" fmla="val 15007"/>
            </a:avLst>
          </a:prstGeom>
          <a:solidFill>
            <a:srgbClr val="F2F2E7"/>
          </a:solidFill>
          <a:ln/>
        </p:spPr>
      </p:sp>
      <p:sp>
        <p:nvSpPr>
          <p:cNvPr id="13" name="Shape 11"/>
          <p:cNvSpPr/>
          <p:nvPr/>
        </p:nvSpPr>
        <p:spPr>
          <a:xfrm>
            <a:off x="7674531" y="3759875"/>
            <a:ext cx="5916097" cy="634841"/>
          </a:xfrm>
          <a:prstGeom prst="roundRect">
            <a:avLst>
              <a:gd name="adj" fmla="val 5359"/>
            </a:avLst>
          </a:prstGeom>
          <a:solidFill>
            <a:srgbClr val="F2F2E7"/>
          </a:solidFill>
          <a:ln/>
        </p:spPr>
      </p:sp>
      <p:sp>
        <p:nvSpPr>
          <p:cNvPr id="14" name="Text 12"/>
          <p:cNvSpPr/>
          <p:nvPr/>
        </p:nvSpPr>
        <p:spPr>
          <a:xfrm>
            <a:off x="7901345" y="3929896"/>
            <a:ext cx="546246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REGEXP_REPLACE(string, pattern, replacement)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878824"/>
            <a:ext cx="6407944" cy="2259330"/>
          </a:xfrm>
          <a:prstGeom prst="roundRect">
            <a:avLst>
              <a:gd name="adj" fmla="val 4217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084" y="513611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LPAD()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51084" y="5696069"/>
            <a:ext cx="589335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Pads characters to the left side of a string.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1051084" y="6246019"/>
            <a:ext cx="5893356" cy="634841"/>
          </a:xfrm>
          <a:prstGeom prst="roundRect">
            <a:avLst>
              <a:gd name="adj" fmla="val 15007"/>
            </a:avLst>
          </a:prstGeom>
          <a:solidFill>
            <a:srgbClr val="F2F2E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39773" y="6246019"/>
            <a:ext cx="5915978" cy="634841"/>
          </a:xfrm>
          <a:prstGeom prst="roundRect">
            <a:avLst>
              <a:gd name="adj" fmla="val 5359"/>
            </a:avLst>
          </a:prstGeom>
          <a:solidFill>
            <a:srgbClr val="F2F2E7"/>
          </a:solidFill>
          <a:ln/>
        </p:spPr>
      </p:sp>
      <p:sp>
        <p:nvSpPr>
          <p:cNvPr id="20" name="Text 18"/>
          <p:cNvSpPr/>
          <p:nvPr/>
        </p:nvSpPr>
        <p:spPr>
          <a:xfrm>
            <a:off x="1266587" y="6416040"/>
            <a:ext cx="546234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LPAD(string, length, pad_string)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4878824"/>
            <a:ext cx="6408063" cy="2259330"/>
          </a:xfrm>
          <a:prstGeom prst="roundRect">
            <a:avLst>
              <a:gd name="adj" fmla="val 4217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5842" y="513611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COALESCE()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7685842" y="5696069"/>
            <a:ext cx="589347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Returns the first non-NULL value.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685842" y="6246019"/>
            <a:ext cx="5893475" cy="634841"/>
          </a:xfrm>
          <a:prstGeom prst="roundRect">
            <a:avLst>
              <a:gd name="adj" fmla="val 15007"/>
            </a:avLst>
          </a:prstGeom>
          <a:solidFill>
            <a:srgbClr val="F2F2E7"/>
          </a:solidFill>
          <a:ln/>
        </p:spPr>
      </p:sp>
      <p:sp>
        <p:nvSpPr>
          <p:cNvPr id="25" name="Shape 23"/>
          <p:cNvSpPr/>
          <p:nvPr/>
        </p:nvSpPr>
        <p:spPr>
          <a:xfrm>
            <a:off x="7674531" y="6246019"/>
            <a:ext cx="5916097" cy="634841"/>
          </a:xfrm>
          <a:prstGeom prst="roundRect">
            <a:avLst>
              <a:gd name="adj" fmla="val 5359"/>
            </a:avLst>
          </a:prstGeom>
          <a:solidFill>
            <a:srgbClr val="F2F2E7"/>
          </a:solidFill>
          <a:ln/>
        </p:spPr>
      </p:sp>
      <p:sp>
        <p:nvSpPr>
          <p:cNvPr id="26" name="Text 24"/>
          <p:cNvSpPr/>
          <p:nvPr/>
        </p:nvSpPr>
        <p:spPr>
          <a:xfrm>
            <a:off x="7901345" y="6416040"/>
            <a:ext cx="546246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COALESCE(value1, value2)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347</Words>
  <Application>Microsoft Office PowerPoint</Application>
  <PresentationFormat>Custom</PresentationFormat>
  <Paragraphs>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Marcellus</vt:lpstr>
      <vt:lpstr>Arial</vt:lpstr>
      <vt:lpstr>Consolas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pavani korada</cp:lastModifiedBy>
  <cp:revision>3</cp:revision>
  <dcterms:created xsi:type="dcterms:W3CDTF">2026-02-03T07:17:33Z</dcterms:created>
  <dcterms:modified xsi:type="dcterms:W3CDTF">2026-02-03T13:36:07Z</dcterms:modified>
</cp:coreProperties>
</file>
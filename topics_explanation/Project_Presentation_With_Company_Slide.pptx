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1" r:id="rId14"/>
    <p:sldId id="272" r:id="rId15"/>
    <p:sldId id="273" r:id="rId16"/>
    <p:sldId id="275" r:id="rId17"/>
    <p:sldId id="276" r:id="rId18"/>
    <p:sldId id="277" r:id="rId19"/>
    <p:sldId id="279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42" y="4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i korada" userId="eda82320f0c9ffd2" providerId="LiveId" clId="{0ABE4133-B675-44FE-8580-AED17D077E0B}"/>
    <pc:docChg chg="addSld">
      <pc:chgData name="pavani korada" userId="eda82320f0c9ffd2" providerId="LiveId" clId="{0ABE4133-B675-44FE-8580-AED17D077E0B}" dt="2026-01-06T09:40:58.836" v="0" actId="680"/>
      <pc:docMkLst>
        <pc:docMk/>
      </pc:docMkLst>
      <pc:sldChg chg="new">
        <pc:chgData name="pavani korada" userId="eda82320f0c9ffd2" providerId="LiveId" clId="{0ABE4133-B675-44FE-8580-AED17D077E0B}" dt="2026-01-06T09:40:58.836" v="0" actId="680"/>
        <pc:sldMkLst>
          <pc:docMk/>
          <pc:sldMk cId="3374652253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4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9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8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4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2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3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9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9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1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2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627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74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6315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68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05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5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62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644" y="1624084"/>
            <a:ext cx="7565409" cy="1279477"/>
          </a:xfrm>
        </p:spPr>
        <p:txBody>
          <a:bodyPr>
            <a:normAutofit fontScale="90000"/>
          </a:bodyPr>
          <a:lstStyle/>
          <a:p>
            <a:r>
              <a:rPr lang="en-IN" sz="7300" dirty="0"/>
              <a:t>Project</a:t>
            </a:r>
            <a:r>
              <a:rPr lang="en-IN" sz="4000" dirty="0"/>
              <a:t> </a:t>
            </a:r>
            <a:r>
              <a:rPr lang="en-IN" sz="7300" dirty="0"/>
              <a:t>Presentation</a:t>
            </a:r>
            <a:endParaRPr sz="7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4544704"/>
            <a:ext cx="6347714" cy="1496659"/>
          </a:xfrm>
        </p:spPr>
        <p:txBody>
          <a:bodyPr/>
          <a:lstStyle/>
          <a:p>
            <a:r>
              <a:rPr dirty="0"/>
              <a:t>Name: Pavani Korada</a:t>
            </a:r>
          </a:p>
          <a:p>
            <a:r>
              <a:rPr dirty="0"/>
              <a:t>Domain: Machine Learning</a:t>
            </a:r>
            <a:r>
              <a:rPr lang="en-IN" dirty="0"/>
              <a:t> and Python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6403-32C4-FD8E-0D0D-7113826F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2810050"/>
            <a:ext cx="6347715" cy="1826581"/>
          </a:xfrm>
        </p:spPr>
        <p:txBody>
          <a:bodyPr>
            <a:noAutofit/>
          </a:bodyPr>
          <a:lstStyle/>
          <a:p>
            <a:r>
              <a:rPr lang="en-IN" sz="5400" b="1" dirty="0"/>
              <a:t>Customer Churn Prediction</a:t>
            </a:r>
            <a:br>
              <a:rPr lang="en-IN" sz="5400" b="1" dirty="0"/>
            </a:br>
            <a:endParaRPr lang="en-IN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4BBCF-A5F7-A254-E69C-E2B311858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252" y="4112798"/>
            <a:ext cx="6347715" cy="433513"/>
          </a:xfrm>
        </p:spPr>
        <p:txBody>
          <a:bodyPr>
            <a:normAutofit/>
          </a:bodyPr>
          <a:lstStyle/>
          <a:p>
            <a:r>
              <a:rPr lang="en-IN" dirty="0"/>
              <a:t>- A Machine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132373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799152"/>
            <a:ext cx="6347713" cy="565624"/>
          </a:xfrm>
        </p:spPr>
        <p:txBody>
          <a:bodyPr>
            <a:noAutofit/>
          </a:bodyPr>
          <a:lstStyle/>
          <a:p>
            <a:r>
              <a:rPr sz="54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Customer churn refers to customers leaving a service.</a:t>
            </a:r>
          </a:p>
          <a:p>
            <a:r>
              <a:rPr sz="2800" dirty="0"/>
              <a:t>Retention is cheaper than acquisition.</a:t>
            </a:r>
          </a:p>
          <a:p>
            <a:r>
              <a:rPr sz="2800" dirty="0"/>
              <a:t>Goal: Predict churn using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781" y="1401170"/>
            <a:ext cx="6347713" cy="1320800"/>
          </a:xfrm>
        </p:spPr>
        <p:txBody>
          <a:bodyPr>
            <a:normAutofit/>
          </a:bodyPr>
          <a:lstStyle/>
          <a:p>
            <a:r>
              <a:rPr sz="5400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007" y="2712566"/>
            <a:ext cx="5007745" cy="3880773"/>
          </a:xfrm>
        </p:spPr>
        <p:txBody>
          <a:bodyPr>
            <a:normAutofit/>
          </a:bodyPr>
          <a:lstStyle/>
          <a:p>
            <a:r>
              <a:rPr sz="2800" dirty="0"/>
              <a:t>Telco Customer Churn Dataset</a:t>
            </a:r>
          </a:p>
          <a:p>
            <a:r>
              <a:rPr sz="2800" dirty="0"/>
              <a:t>7043 records, 21 features</a:t>
            </a:r>
          </a:p>
          <a:p>
            <a:r>
              <a:rPr sz="2800" dirty="0"/>
              <a:t>Target: Churn</a:t>
            </a:r>
          </a:p>
        </p:txBody>
      </p: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9DD1D01F-682D-761B-BF78-9ECD22A1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392" y="2395182"/>
            <a:ext cx="2162801" cy="263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36" y="190064"/>
            <a:ext cx="6347713" cy="792575"/>
          </a:xfrm>
        </p:spPr>
        <p:txBody>
          <a:bodyPr>
            <a:normAutofit fontScale="90000"/>
          </a:bodyPr>
          <a:lstStyle/>
          <a:p>
            <a:r>
              <a:rPr sz="6000" dirty="0"/>
              <a:t>Data</a:t>
            </a:r>
            <a:r>
              <a:rPr dirty="0"/>
              <a:t> </a:t>
            </a:r>
            <a:r>
              <a:rPr sz="6000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01" y="1064219"/>
            <a:ext cx="6636590" cy="4811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Demographics</a:t>
            </a:r>
            <a:r>
              <a:rPr lang="en-IN" dirty="0"/>
              <a:t>                      Billing &amp; Payment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dirty="0"/>
              <a:t>Services</a:t>
            </a:r>
            <a:r>
              <a:rPr lang="en-IN" dirty="0"/>
              <a:t>                               Tenure &amp; Charges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 descr="A diagram of a family&#10;&#10;AI-generated content may be incorrect.">
            <a:extLst>
              <a:ext uri="{FF2B5EF4-FFF2-40B4-BE49-F238E27FC236}">
                <a16:creationId xmlns:a16="http://schemas.microsoft.com/office/drawing/2014/main" id="{725803A4-B004-8542-031C-34B8E7AD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56" y="1553037"/>
            <a:ext cx="1725444" cy="1714005"/>
          </a:xfrm>
          <a:prstGeom prst="rect">
            <a:avLst/>
          </a:prstGeom>
        </p:spPr>
      </p:pic>
      <p:pic>
        <p:nvPicPr>
          <p:cNvPr id="9" name="Picture 8" descr="A collection of icons of telephones&#10;&#10;AI-generated content may be incorrect.">
            <a:extLst>
              <a:ext uri="{FF2B5EF4-FFF2-40B4-BE49-F238E27FC236}">
                <a16:creationId xmlns:a16="http://schemas.microsoft.com/office/drawing/2014/main" id="{9EF301C8-37EF-6D21-29C3-51CC0209C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80" y="4272701"/>
            <a:ext cx="1624196" cy="1602660"/>
          </a:xfrm>
          <a:prstGeom prst="rect">
            <a:avLst/>
          </a:prstGeom>
        </p:spPr>
      </p:pic>
      <p:pic>
        <p:nvPicPr>
          <p:cNvPr id="12" name="Picture 11" descr="A diagram of a system&#10;&#10;AI-generated content may be incorrect.">
            <a:extLst>
              <a:ext uri="{FF2B5EF4-FFF2-40B4-BE49-F238E27FC236}">
                <a16:creationId xmlns:a16="http://schemas.microsoft.com/office/drawing/2014/main" id="{04361DF5-3F5F-2056-06F2-03635885D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532" y="1553038"/>
            <a:ext cx="2732788" cy="1708236"/>
          </a:xfrm>
          <a:prstGeom prst="rect">
            <a:avLst/>
          </a:prstGeom>
        </p:spPr>
      </p:pic>
      <p:pic>
        <p:nvPicPr>
          <p:cNvPr id="14" name="Picture 13" descr="A graph with numbers and a bar chart&#10;&#10;AI-generated content may be incorrect.">
            <a:extLst>
              <a:ext uri="{FF2B5EF4-FFF2-40B4-BE49-F238E27FC236}">
                <a16:creationId xmlns:a16="http://schemas.microsoft.com/office/drawing/2014/main" id="{92437636-F86D-A6FA-EEC2-AC1271F1A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532" y="4267595"/>
            <a:ext cx="2627194" cy="1566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781" y="1264693"/>
            <a:ext cx="6347713" cy="1320800"/>
          </a:xfrm>
        </p:spPr>
        <p:txBody>
          <a:bodyPr>
            <a:normAutofit/>
          </a:bodyPr>
          <a:lstStyle/>
          <a:p>
            <a:r>
              <a:rPr sz="5400" dirty="0"/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829330"/>
            <a:ext cx="6347714" cy="3880773"/>
          </a:xfrm>
        </p:spPr>
        <p:txBody>
          <a:bodyPr>
            <a:normAutofit/>
          </a:bodyPr>
          <a:lstStyle/>
          <a:p>
            <a:r>
              <a:rPr sz="2800" dirty="0"/>
              <a:t>High churn in month-to-month contracts</a:t>
            </a:r>
          </a:p>
          <a:p>
            <a:r>
              <a:rPr sz="2800" dirty="0"/>
              <a:t>Higher churn for fiber optic users</a:t>
            </a:r>
          </a:p>
          <a:p>
            <a:r>
              <a:rPr sz="2800" dirty="0"/>
              <a:t>Short tenure customers churn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2113"/>
            <a:ext cx="6347713" cy="1320800"/>
          </a:xfrm>
        </p:spPr>
        <p:txBody>
          <a:bodyPr>
            <a:normAutofit/>
          </a:bodyPr>
          <a:lstStyle/>
          <a:p>
            <a:r>
              <a:rPr sz="5400"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90" y="2977227"/>
            <a:ext cx="7012676" cy="3880773"/>
          </a:xfrm>
        </p:spPr>
        <p:txBody>
          <a:bodyPr>
            <a:normAutofit/>
          </a:bodyPr>
          <a:lstStyle/>
          <a:p>
            <a:r>
              <a:rPr sz="2800" dirty="0"/>
              <a:t>Label Encoding</a:t>
            </a:r>
          </a:p>
          <a:p>
            <a:r>
              <a:rPr sz="2800" dirty="0"/>
              <a:t>Scaling</a:t>
            </a:r>
          </a:p>
          <a:p>
            <a:r>
              <a:rPr sz="2800" dirty="0"/>
              <a:t>Handling imbalance using SMOTEENN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Logistic Regression</a:t>
            </a:r>
          </a:p>
          <a:p>
            <a:r>
              <a:rPr sz="2400" dirty="0"/>
              <a:t>SVM</a:t>
            </a:r>
          </a:p>
          <a:p>
            <a:r>
              <a:rPr sz="2400" dirty="0"/>
              <a:t>Random Forest</a:t>
            </a:r>
          </a:p>
          <a:p>
            <a:r>
              <a:rPr sz="2400" dirty="0"/>
              <a:t>Decision Tree</a:t>
            </a:r>
          </a:p>
          <a:p>
            <a:r>
              <a:rPr sz="2400" dirty="0"/>
              <a:t>AdaBoost</a:t>
            </a:r>
          </a:p>
          <a:p>
            <a:r>
              <a:rPr sz="2400" dirty="0"/>
              <a:t>Gradient Boosting</a:t>
            </a:r>
          </a:p>
        </p:txBody>
      </p:sp>
      <p:pic>
        <p:nvPicPr>
          <p:cNvPr id="5" name="Picture 4" descr="A group of icons with text&#10;&#10;AI-generated content may be incorrect.">
            <a:extLst>
              <a:ext uri="{FF2B5EF4-FFF2-40B4-BE49-F238E27FC236}">
                <a16:creationId xmlns:a16="http://schemas.microsoft.com/office/drawing/2014/main" id="{9A14192E-2287-372E-A36C-852EA81B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134" y="1815153"/>
            <a:ext cx="3425588" cy="3522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207458" cy="912125"/>
          </a:xfrm>
        </p:spPr>
        <p:txBody>
          <a:bodyPr>
            <a:normAutofit fontScale="90000"/>
          </a:bodyPr>
          <a:lstStyle/>
          <a:p>
            <a:r>
              <a:rPr sz="5400"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30685"/>
            <a:ext cx="6347714" cy="1094401"/>
          </a:xfrm>
        </p:spPr>
        <p:txBody>
          <a:bodyPr/>
          <a:lstStyle/>
          <a:p>
            <a:r>
              <a:rPr dirty="0"/>
              <a:t>Best Accuracy ~80%</a:t>
            </a:r>
          </a:p>
          <a:p>
            <a:r>
              <a:rPr dirty="0"/>
              <a:t>Random Forest &amp; AdaBoost performed well</a:t>
            </a:r>
          </a:p>
        </p:txBody>
      </p:sp>
      <p:pic>
        <p:nvPicPr>
          <p:cNvPr id="5" name="Picture 4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16CA633F-DDF5-3DE9-EF98-8FC3168A5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1" y="2900149"/>
            <a:ext cx="5058593" cy="3227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Accuracy</a:t>
            </a:r>
          </a:p>
          <a:p>
            <a:r>
              <a:rPr sz="2400" dirty="0"/>
              <a:t>Precision</a:t>
            </a:r>
          </a:p>
          <a:p>
            <a:r>
              <a:rPr sz="2400" dirty="0"/>
              <a:t>Recall</a:t>
            </a:r>
          </a:p>
          <a:p>
            <a:r>
              <a:rPr sz="2400" dirty="0"/>
              <a:t>F1-score</a:t>
            </a:r>
          </a:p>
          <a:p>
            <a:r>
              <a:rPr sz="2400" dirty="0"/>
              <a:t>ROC-AUC</a:t>
            </a:r>
          </a:p>
        </p:txBody>
      </p:sp>
      <p:pic>
        <p:nvPicPr>
          <p:cNvPr id="5" name="Picture 4" descr="A diagram of a blue and white diagram&#10;&#10;AI-generated content may be incorrect.">
            <a:extLst>
              <a:ext uri="{FF2B5EF4-FFF2-40B4-BE49-F238E27FC236}">
                <a16:creationId xmlns:a16="http://schemas.microsoft.com/office/drawing/2014/main" id="{FD415985-94E2-A22C-FE42-CF38128FF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40" y="1825389"/>
            <a:ext cx="3304520" cy="3010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SHAP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89743"/>
            <a:ext cx="6347714" cy="4410806"/>
          </a:xfrm>
        </p:spPr>
        <p:txBody>
          <a:bodyPr/>
          <a:lstStyle/>
          <a:p>
            <a:r>
              <a:rPr dirty="0"/>
              <a:t>Tenure most important feature</a:t>
            </a:r>
          </a:p>
          <a:p>
            <a:r>
              <a:rPr dirty="0"/>
              <a:t>Contract type influences churn</a:t>
            </a:r>
            <a:endParaRPr lang="en-IN" dirty="0"/>
          </a:p>
          <a:p>
            <a:r>
              <a:rPr dirty="0"/>
              <a:t>Monthly charges impact churn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Tenure most important feature</a:t>
            </a:r>
          </a:p>
          <a:p>
            <a:r>
              <a:rPr lang="en-US" dirty="0"/>
              <a:t>Contract type influences churn</a:t>
            </a:r>
          </a:p>
          <a:p>
            <a:r>
              <a:rPr lang="en-US" dirty="0"/>
              <a:t>Monthly charges impact churn</a:t>
            </a:r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C5BE8-9873-A96A-B28F-2D72B96A88FE}"/>
              </a:ext>
            </a:extLst>
          </p:cNvPr>
          <p:cNvSpPr txBox="1"/>
          <p:nvPr/>
        </p:nvSpPr>
        <p:spPr>
          <a:xfrm>
            <a:off x="609597" y="2862491"/>
            <a:ext cx="6264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accent1"/>
                </a:solidFill>
                <a:latin typeface="+mj-lt"/>
              </a:rPr>
              <a:t>Business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ML helps predict churn effectively</a:t>
            </a:r>
          </a:p>
          <a:p>
            <a:r>
              <a:rPr sz="3200" dirty="0"/>
              <a:t>Insights help retention strategies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815D-FDA6-2018-EE9C-8560AA0B0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978926"/>
            <a:ext cx="5826719" cy="2658764"/>
          </a:xfrm>
        </p:spPr>
        <p:txBody>
          <a:bodyPr/>
          <a:lstStyle/>
          <a:p>
            <a:pPr algn="ctr"/>
            <a:r>
              <a:rPr lang="en-IN" dirty="0"/>
              <a:t>Student Performance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523D2-4209-6794-8AEF-626E9D03D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129" y="4699103"/>
            <a:ext cx="5826719" cy="1096899"/>
          </a:xfrm>
        </p:spPr>
        <p:txBody>
          <a:bodyPr/>
          <a:lstStyle/>
          <a:p>
            <a:r>
              <a:rPr lang="en-IN" dirty="0"/>
              <a:t>- A Python Programming Project</a:t>
            </a:r>
          </a:p>
        </p:txBody>
      </p:sp>
    </p:spTree>
    <p:extLst>
      <p:ext uri="{BB962C8B-B14F-4D97-AF65-F5344CB8AC3E}">
        <p14:creationId xmlns:p14="http://schemas.microsoft.com/office/powerpoint/2010/main" val="255938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076D-0FB3-A499-2BDE-DA99B52F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90" y="1073624"/>
            <a:ext cx="6347713" cy="1320800"/>
          </a:xfrm>
        </p:spPr>
        <p:txBody>
          <a:bodyPr>
            <a:normAutofit/>
          </a:bodyPr>
          <a:lstStyle/>
          <a:p>
            <a:r>
              <a:rPr lang="en-IN" sz="54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09AEA-8590-7D39-F919-47584D145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781" y="2761092"/>
            <a:ext cx="6347714" cy="3880773"/>
          </a:xfrm>
        </p:spPr>
        <p:txBody>
          <a:bodyPr>
            <a:normAutofit/>
          </a:bodyPr>
          <a:lstStyle/>
          <a:p>
            <a:r>
              <a:rPr lang="en-US" sz="2400" dirty="0"/>
              <a:t>Manual tracking of student performance is inefficient</a:t>
            </a:r>
          </a:p>
          <a:p>
            <a:r>
              <a:rPr lang="en-US" sz="2400" dirty="0"/>
              <a:t>Need a centralized system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3041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CE53-3F08-F65F-22F7-53DC1ADA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84" y="818560"/>
            <a:ext cx="6347713" cy="1320800"/>
          </a:xfrm>
        </p:spPr>
        <p:txBody>
          <a:bodyPr>
            <a:normAutofit/>
          </a:bodyPr>
          <a:lstStyle/>
          <a:p>
            <a:r>
              <a:rPr lang="en-IN" sz="5400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94D0-124E-98D6-30B8-B37E2B3F1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647" y="2085528"/>
            <a:ext cx="6347714" cy="3880773"/>
          </a:xfrm>
        </p:spPr>
        <p:txBody>
          <a:bodyPr>
            <a:normAutofit/>
          </a:bodyPr>
          <a:lstStyle/>
          <a:p>
            <a:r>
              <a:rPr lang="en-US" sz="2400" dirty="0"/>
              <a:t>Store student data</a:t>
            </a:r>
          </a:p>
          <a:p>
            <a:r>
              <a:rPr lang="en-US" sz="2400" dirty="0"/>
              <a:t>Track marks</a:t>
            </a:r>
          </a:p>
          <a:p>
            <a:r>
              <a:rPr lang="en-US" sz="2400" dirty="0"/>
              <a:t>Analyze performance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7" name="Picture 6" descr="A graph of students with numbers and text&#10;&#10;AI-generated content may be incorrect.">
            <a:extLst>
              <a:ext uri="{FF2B5EF4-FFF2-40B4-BE49-F238E27FC236}">
                <a16:creationId xmlns:a16="http://schemas.microsoft.com/office/drawing/2014/main" id="{7F0AF8EA-CFB5-C401-CE16-AF767C6D8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1" y="3619179"/>
            <a:ext cx="5759355" cy="234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21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B190-B606-77DE-7177-A21DB2656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766" y="48220"/>
            <a:ext cx="6347713" cy="982186"/>
          </a:xfrm>
        </p:spPr>
        <p:txBody>
          <a:bodyPr>
            <a:normAutofit/>
          </a:bodyPr>
          <a:lstStyle/>
          <a:p>
            <a:r>
              <a:rPr lang="en-IN" sz="5400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D978-EDD8-096C-3CC0-DF3441B8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66" y="859809"/>
            <a:ext cx="6347714" cy="5349922"/>
          </a:xfrm>
        </p:spPr>
        <p:txBody>
          <a:bodyPr>
            <a:normAutofit/>
          </a:bodyPr>
          <a:lstStyle/>
          <a:p>
            <a:r>
              <a:rPr lang="en-US" sz="2400" dirty="0"/>
              <a:t>Add/View student records</a:t>
            </a:r>
          </a:p>
          <a:p>
            <a:r>
              <a:rPr lang="en-US" sz="2400" dirty="0"/>
              <a:t>Performance calculation</a:t>
            </a:r>
          </a:p>
          <a:p>
            <a:r>
              <a:rPr lang="en-US" sz="2400" dirty="0"/>
              <a:t>User-friendly interface</a:t>
            </a:r>
          </a:p>
          <a:p>
            <a:pPr marL="0" indent="0">
              <a:buNone/>
            </a:pPr>
            <a:r>
              <a:rPr lang="en-IN" sz="5800" dirty="0">
                <a:solidFill>
                  <a:schemeClr val="accent1"/>
                </a:solidFill>
                <a:latin typeface="+mj-lt"/>
              </a:rPr>
              <a:t>System Workflow</a:t>
            </a:r>
            <a:endParaRPr lang="en-US" sz="5800" dirty="0">
              <a:solidFill>
                <a:schemeClr val="accent1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400" dirty="0"/>
              <a:t>             Input student details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Store in database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          Display results</a:t>
            </a:r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C82ECDA-9887-B513-E82F-2197987385CC}"/>
              </a:ext>
            </a:extLst>
          </p:cNvPr>
          <p:cNvSpPr/>
          <p:nvPr/>
        </p:nvSpPr>
        <p:spPr>
          <a:xfrm>
            <a:off x="2968524" y="3814549"/>
            <a:ext cx="395649" cy="5459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4D9E7DB-FEC6-47D2-BDC0-BFBDFA4E2BFA}"/>
              </a:ext>
            </a:extLst>
          </p:cNvPr>
          <p:cNvSpPr/>
          <p:nvPr/>
        </p:nvSpPr>
        <p:spPr>
          <a:xfrm>
            <a:off x="2944709" y="4813795"/>
            <a:ext cx="375450" cy="5459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74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775F-6AE1-9DEE-4103-D6664F99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103194"/>
          </a:xfrm>
        </p:spPr>
        <p:txBody>
          <a:bodyPr>
            <a:normAutofit/>
          </a:bodyPr>
          <a:lstStyle/>
          <a:p>
            <a:r>
              <a:rPr lang="en-IN" sz="5400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81A6A-F7D7-A41D-25A8-482AFC42E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008" y="1712794"/>
            <a:ext cx="6347714" cy="3880773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/>
              <a:t>Saves time</a:t>
            </a:r>
          </a:p>
          <a:p>
            <a:r>
              <a:rPr lang="en-IN" sz="2400" dirty="0"/>
              <a:t>Reduces errors</a:t>
            </a:r>
          </a:p>
          <a:p>
            <a:r>
              <a:rPr lang="en-IN" sz="2400" dirty="0"/>
              <a:t>Centralized access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5400" dirty="0">
                <a:solidFill>
                  <a:schemeClr val="accent1"/>
                </a:solidFill>
                <a:latin typeface="+mj-lt"/>
              </a:rPr>
              <a:t>Future Scope</a:t>
            </a:r>
          </a:p>
          <a:p>
            <a:r>
              <a:rPr lang="en-IN" sz="2600" dirty="0"/>
              <a:t>Charts &amp; analytics</a:t>
            </a:r>
          </a:p>
          <a:p>
            <a:r>
              <a:rPr lang="en-IN" sz="2600" dirty="0"/>
              <a:t>Login system</a:t>
            </a:r>
          </a:p>
          <a:p>
            <a:r>
              <a:rPr lang="en-IN" sz="2600" dirty="0"/>
              <a:t>Cloud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409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923A-56AC-37E7-3B9C-A5ACBD3EC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640006"/>
            <a:ext cx="6347713" cy="1320800"/>
          </a:xfrm>
        </p:spPr>
        <p:txBody>
          <a:bodyPr>
            <a:normAutofit/>
          </a:bodyPr>
          <a:lstStyle/>
          <a:p>
            <a:r>
              <a:rPr lang="en-IN" sz="5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C6998-A5F3-5C7F-C26E-AF717A76C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253" y="3109109"/>
            <a:ext cx="6347714" cy="3880773"/>
          </a:xfrm>
        </p:spPr>
        <p:txBody>
          <a:bodyPr>
            <a:normAutofit/>
          </a:bodyPr>
          <a:lstStyle/>
          <a:p>
            <a:r>
              <a:rPr lang="en-IN" sz="2800" dirty="0"/>
              <a:t>Efficient student tracking system</a:t>
            </a:r>
          </a:p>
          <a:p>
            <a:r>
              <a:rPr lang="en-IN" sz="2800" dirty="0"/>
              <a:t>Practical academic use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44492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585" y="609600"/>
            <a:ext cx="4732727" cy="1320800"/>
          </a:xfrm>
        </p:spPr>
        <p:txBody>
          <a:bodyPr>
            <a:noAutofit/>
          </a:bodyPr>
          <a:lstStyle/>
          <a:p>
            <a:r>
              <a:rPr sz="5400" dirty="0"/>
              <a:t>About Health Catalyst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645086"/>
            <a:ext cx="6347714" cy="3880773"/>
          </a:xfrm>
        </p:spPr>
        <p:txBody>
          <a:bodyPr/>
          <a:lstStyle/>
          <a:p>
            <a:r>
              <a:rPr dirty="0"/>
              <a:t>Leading healthcare data and analytics company.</a:t>
            </a:r>
          </a:p>
          <a:p>
            <a:r>
              <a:rPr dirty="0"/>
              <a:t>Mission: To be the catalyst for massive, measurable, data‑informed healthcare improvement.</a:t>
            </a:r>
          </a:p>
          <a:p>
            <a:r>
              <a:rPr dirty="0"/>
              <a:t>Provides data, analytics platforms, and software to healthcare organizations.</a:t>
            </a:r>
          </a:p>
          <a:p>
            <a:r>
              <a:rPr dirty="0"/>
              <a:t>Helps hospitals and health systems improve clinical, financial, and operational performance.</a:t>
            </a:r>
          </a:p>
          <a:p>
            <a:r>
              <a:rPr dirty="0"/>
              <a:t>Focuses on data‑driven decision making to improve patient outcomes.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D3CFD2-7589-2BBD-1ABF-56964145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5" y="266131"/>
            <a:ext cx="2127643" cy="22791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058" y="3127612"/>
            <a:ext cx="6347713" cy="1320800"/>
          </a:xfrm>
        </p:spPr>
        <p:txBody>
          <a:bodyPr>
            <a:normAutofit/>
          </a:bodyPr>
          <a:lstStyle/>
          <a:p>
            <a:r>
              <a:rPr sz="66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731" y="4448412"/>
            <a:ext cx="6561528" cy="336949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428</TotalTime>
  <Words>314</Words>
  <Application>Microsoft Office PowerPoint</Application>
  <PresentationFormat>On-screen Show 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Project Presentation</vt:lpstr>
      <vt:lpstr>Customer Churn Prediction </vt:lpstr>
      <vt:lpstr>Introduction</vt:lpstr>
      <vt:lpstr>Dataset</vt:lpstr>
      <vt:lpstr>Data Features</vt:lpstr>
      <vt:lpstr>EDA Insights</vt:lpstr>
      <vt:lpstr>Preprocessing</vt:lpstr>
      <vt:lpstr>Models Used</vt:lpstr>
      <vt:lpstr>Model Performance</vt:lpstr>
      <vt:lpstr>Evaluation Metrics</vt:lpstr>
      <vt:lpstr>SHAP Analysis</vt:lpstr>
      <vt:lpstr>Conclusion</vt:lpstr>
      <vt:lpstr>Student Performance Tracker</vt:lpstr>
      <vt:lpstr>Problem Statement</vt:lpstr>
      <vt:lpstr>Project Objectives</vt:lpstr>
      <vt:lpstr>Key Features</vt:lpstr>
      <vt:lpstr>Benefits</vt:lpstr>
      <vt:lpstr>Conclusion</vt:lpstr>
      <vt:lpstr>About Health Catalyst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Pavani</dc:creator>
  <cp:keywords/>
  <dc:description>generated using python-pptx</dc:description>
  <cp:lastModifiedBy>pavani korada</cp:lastModifiedBy>
  <cp:revision>5</cp:revision>
  <dcterms:created xsi:type="dcterms:W3CDTF">2013-01-27T09:14:16Z</dcterms:created>
  <dcterms:modified xsi:type="dcterms:W3CDTF">2026-01-06T13:28:55Z</dcterms:modified>
  <cp:category/>
</cp:coreProperties>
</file>